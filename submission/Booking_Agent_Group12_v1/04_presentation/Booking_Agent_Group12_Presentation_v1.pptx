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7B2F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0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start</c:v>
                  </c:pt>
                  <c:pt idx="1">
                    <c:v>wiring</c:v>
                  </c:pt>
                  <c:pt idx="2">
                    <c:v>tool-agent</c:v>
                  </c:pt>
                  <c:pt idx="3">
                    <c:v>conversational</c:v>
                  </c:pt>
                  <c:pt idx="4">
                    <c:v>now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</c:v>
                </c:pt>
                <c:pt idx="1">
                  <c:v>95</c:v>
                </c:pt>
                <c:pt idx="2">
                  <c:v>115</c:v>
                </c:pt>
                <c:pt idx="3">
                  <c:v>128</c:v>
                </c:pt>
                <c:pt idx="4">
                  <c:v>148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0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9A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B0F"/>
        </a:solidFill>
        <a:ln>
          <a:noFill/>
        </a:ln>
        <a:effectLst/>
      </c:spPr>
    </c:plotArea>
    <c:plotVisOnly val="1"/>
    <c:dispBlanksAs val="span"/>
  </c:chart>
  <c:spPr>
    <a:solidFill>
      <a:srgbClr val="0B0B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it turns 'I want a ticket' into a paid QR ticket inside a single chat. Built for the Agentic AI Bootcamp. I'll focus on the agentic engineering — tool use, a human-in-the-loop payment gate, guardrails, evaluation, observability — then a live demo on Gemini.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Ticketing loses most of its sales at checkout. The funnel is long, discounts hidden, seat maps painful, delivery unreliable. Everything that follows collapses that funnel into a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loop. The user can give everything at once or drip-feed it; the agent fills slots each turn and asks for the first missing one. Payment is gated behind an explicit confirm — the next theme.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turn: extract slots (LLM first, regex fallback), route to the brain, call typed tools, return a typed response the UI renders as cards. The brain is swappable — deterministic FSM by default or a real tool-calling agent — over the same tools, so multi-agent can graft on without regressing the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genuinely agentic path: the model reasons, calls a tool, observes, repeats — with a step cap so it can't loop forever. We wrapped our tools as schemas and built a dispatcher. Payment is not in the tool set, so the model can't trigger a 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safety property. Charging the wrong amount or seats is the worst failure here, so confirm-before-payment is enforced in code and the model is never given a payment tool. We test the attack: even if the model says 'confirm' at the wrong moment, no charge. Same guardrails cover caps and off-topic.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graded correctness items. Money is integer halalas, half-up — reproducible to the halala; Gold×4 nets 3,128 SAR. Seat holds are all-or-nothing with a 10-minute TTL and a sweeper, so two users can never hold the same seat. Both tested first, before agent wiring.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need yardsticks. We have a labelled eval set with a scorer and an automated grader, plus an LLM-as-judge for free-text. The suite grew with the work from 69 to 148 tests, and the AI path went from completely untested to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Observability makes the agent trustworthy and debuggable: every tool call and transition logged, PII redacted. We classify sentiment each turn, and hardened real edge cases — an unknown event says 'couldn't find it' instead of an unrelated FAQ, and every model call has a timeout so it fails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Personalisation and grounding: discovery asks your interest and filters; long-term memory keeps past bookings; a RAG retriever grounds venue and policy questions. Built to scale to multi-agent — a planner, a LangGraph-style adapter, a recommender — without regressing the single-agent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+ SQLAlchemy backend, a Next.js storefront plus a no-Node static site, and a provider-agnostic LLM layer — Gemini active, others one env-var away since they all speak the OpenAI API. spec-kit drove every feature against a written constitution, money and holds tested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Wrap: we collapsed the checkout funnel into one conversation and made the agent trustworthy — it can't spend your money, it's measured, it's observable. Next: tool-agent as default, sentiment adaptation, the real payment webhook. Happy to go deep on any part —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766560" cy="6766560"/>
          </a:xfrm>
          <a:prstGeom prst="ellipse">
            <a:avLst/>
          </a:prstGeom>
          <a:solidFill>
            <a:srgbClr val="E6007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108960"/>
            <a:ext cx="6949440" cy="6949440"/>
          </a:xfrm>
          <a:prstGeom prst="ellipse">
            <a:avLst/>
          </a:prstGeom>
          <a:solidFill>
            <a:srgbClr val="7B2FF7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960120" cy="9601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472" y="990752"/>
            <a:ext cx="441655" cy="4416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 · CAPSTONE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Agent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822960" y="345643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chat-first AI concierge that books live-event tickets in Saudi Arabia — in one conversation.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805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50592" y="44805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44805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78224" y="44805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78224" y="44805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holds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05856" y="44805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05856" y="44805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333488" y="44805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33488" y="44805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961120" y="448056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0" y="448056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tests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2960" y="5989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Nawaf Almufarej · Dana · Hessa · Refal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E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Next.js storefront · powered by Google Gemini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 ticket is full of friction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688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ticketing carts are abandoned at checkout — among the highest in e-commerce.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8745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28032" y="213055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729" y="2313249"/>
            <a:ext cx="311262" cy="311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50992" y="2112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checkout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650992" y="25146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category → seat → register → pay → confirm. Slow, abandoned mid-flow.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0" y="18745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85632" y="213055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8329" y="2313249"/>
            <a:ext cx="311262" cy="311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08592" y="2112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buried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9308592" y="25146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discounts sit five clicks deep, so buyers never apply them.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28032" y="423367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729" y="4416369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50992" y="4215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seat maps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5650992" y="46177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on mobile; picking adjacent seats is clumsy and error-prone.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0" y="397764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85632" y="423367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329" y="4416369"/>
            <a:ext cx="311262" cy="3112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08592" y="4215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fakeable tickets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308592" y="46177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get lost in spam; a screenshotted QR is easy to fake.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— intent to QR ticket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search bar wrapped in chat. The agent decides what's still missing — email, category, quantity, seats — and asks.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89888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035808" y="24688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29000" y="24688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78808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24728" y="24688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967728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+VAT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613648" y="24688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06840" y="24688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756648" y="2468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map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89888" y="3840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10 min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035808" y="38404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42900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178808" y="3840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824728" y="38404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967728" y="3840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613648" y="38404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006840" y="384048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897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756648" y="3840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ticket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0080" y="57150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“4 Gold tickets to Coldplay in Riyadh, nawaf@example.com”  →  3,128.00 SAR incl. VAT  →  seats held  →  confirm  →  ticket.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8712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/ API /v1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33472" y="228600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063240" y="28712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extract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 fallback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19472" y="228600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12080" y="22860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49240" y="28712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  |  ReAct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tool-agent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05472" y="228600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0" y="22860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tools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35240" y="28712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· quote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· booking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91472" y="228600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18C8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84080" y="228600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21240" y="2450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response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921240" y="28712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 · quote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10972800" cy="1737360"/>
          </a:xfrm>
          <a:prstGeom prst="roundRect">
            <a:avLst>
              <a:gd name="adj" fmla="val 6316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brains, one tool surface.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fsm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deterministic state machine (safe MVP);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tool_agent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the model pick tools in a ReAct loop — one env var switches.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key? It degrades to the rule-based path and still books. Graceful fallback everywhere.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TOOL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drives the tools (ReAct)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754880" cy="4114800"/>
          </a:xfrm>
          <a:prstGeom prst="roundRect">
            <a:avLst>
              <a:gd name="adj" fmla="val 2667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75" y="249585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670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picks the next tool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429000"/>
            <a:ext cx="777240" cy="777240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363885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20240" y="3813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to the real F001 function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60120" y="4572000"/>
            <a:ext cx="777240" cy="777240"/>
          </a:xfrm>
          <a:prstGeom prst="ellipse">
            <a:avLst/>
          </a:prstGeom>
          <a:solidFill>
            <a:srgbClr val="B818C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4781855"/>
            <a:ext cx="357530" cy="3575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4590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920240" y="49560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result back, repeat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914400" y="5532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  step cap = loop prevention (Week 5)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0" y="1920240"/>
            <a:ext cx="5897880" cy="1243584"/>
          </a:xfrm>
          <a:prstGeom prst="roundRect">
            <a:avLst>
              <a:gd name="adj" fmla="val 882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25312" y="217627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009" y="2358969"/>
            <a:ext cx="311262" cy="3112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48272" y="21579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748272" y="2560320"/>
            <a:ext cx="4617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F001 functions exposed as OpenAI function-call schemas + structured args.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669280" y="3310128"/>
            <a:ext cx="5897880" cy="1243584"/>
          </a:xfrm>
          <a:prstGeom prst="roundRect">
            <a:avLst>
              <a:gd name="adj" fmla="val 882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925312" y="3566160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009" y="3748857"/>
            <a:ext cx="311262" cy="311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48272" y="35478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6748272" y="3950208"/>
            <a:ext cx="4617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model's choice to the real tool; refuses unknown/forbidden names.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669280" y="4700016"/>
            <a:ext cx="5897880" cy="1243584"/>
          </a:xfrm>
          <a:prstGeom prst="roundRect">
            <a:avLst>
              <a:gd name="adj" fmla="val 882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925312" y="4956048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009" y="5138745"/>
            <a:ext cx="311262" cy="3112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48272" y="4937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limits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6748272" y="5340096"/>
            <a:ext cx="4617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payment is NOT a tool — the model literally can't charge you.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GUARDRAILS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spend your money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868680" cy="86868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944" y="2355952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574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Principle I (non-negotiable): 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link is created only after an explicit user confirm from the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AWAITING_CONFIRMATION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— enforced in code, not left to the model.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373075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09" y="3913449"/>
            <a:ext cx="311262" cy="3112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19072" y="37124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isn't a tool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719072" y="41148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a 'pay' function — both modes route it through code.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3474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19672" y="373075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369" y="3913449"/>
            <a:ext cx="311262" cy="311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42632" y="37124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bypass attempt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342632" y="41148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stray model 'confirm' before the gate produces no payment — covered by a test.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8006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96112" y="505663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9" y="5239329"/>
            <a:ext cx="311262" cy="3112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19072" y="50383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enforcement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1719072" y="5440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ticket caps checked before any quote; over-cap is refused, politely.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480060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19672" y="505663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369" y="5239329"/>
            <a:ext cx="311262" cy="3112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42632" y="503834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refusal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7342632" y="54406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me code' → declines clearly and steers back; no invented catalog.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II &amp; IV · CORRECTNESS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money, atomic seats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amount is integer halalas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SAR = 100 halalas · half-up integer math · no float ever enters the arithmetic.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× 4 @ 800.00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3200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3,200.00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Platinum −15%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− 480.00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4114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2,720.00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VAT 15%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4572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0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+ 408.00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5074920"/>
            <a:ext cx="484632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3,128.00 SAR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2103120"/>
            <a:ext cx="822960" cy="822960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7319" y="2325319"/>
            <a:ext cx="378562" cy="37856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3524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time-bounded holds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20840" y="315468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— every seat is held or none are.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10-minute TTL with a visible countdown.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bookings ever hold the same seat.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sweeper releases expired holds.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EVALUATION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vibes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00400" cy="4160520"/>
          </a:xfrm>
          <a:prstGeom prst="roundRect">
            <a:avLst>
              <a:gd name="adj" fmla="val 3429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468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green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path went from 0% under test to extractor + Q&amp;A + guardrails + tool-loop coverage.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0" y="1965960"/>
          <a:ext cx="7406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114800" y="48920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5148072"/>
            <a:ext cx="676656" cy="676656"/>
          </a:xfrm>
          <a:prstGeom prst="ellipse">
            <a:avLst/>
          </a:prstGeom>
          <a:solidFill>
            <a:srgbClr val="B818C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29" y="5330769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5129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193792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labelled dataset + scorer; an automated grader runs it vs the live model.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863840" y="48920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19872" y="5148072"/>
            <a:ext cx="676656" cy="676656"/>
          </a:xfrm>
          <a:prstGeom prst="ellipse">
            <a:avLst/>
          </a:prstGeom>
          <a:solidFill>
            <a:srgbClr val="B818C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569" y="5330769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42832" y="5129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942832" y="5532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free-text replies 1–5 for helpfulness + grounding (Week 2).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FAILURE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what it did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4160520"/>
          </a:xfrm>
          <a:prstGeom prst="roundRect">
            <a:avLst>
              <a:gd name="adj" fmla="val 2637"/>
            </a:avLst>
          </a:prstGeom>
          <a:solidFill>
            <a:srgbClr val="1C1C2A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reasoning (PII-redacted)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 lookup_member   email=n***@example.com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 compute_quote   gold x4  total=3,128.00 SAR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 place_seat_hold seats=[G3,G4,G5,G6]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seat_selection -&gt; awaiting_confirmation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81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 awaiting_confirmation -&gt; payment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49440" y="1874520"/>
            <a:ext cx="4617720" cy="1261872"/>
          </a:xfrm>
          <a:prstGeom prst="roundRect">
            <a:avLst>
              <a:gd name="adj" fmla="val 8696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05472" y="2130552"/>
            <a:ext cx="676656" cy="676656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2313249"/>
            <a:ext cx="311262" cy="3112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28432" y="2112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+ transitions logged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028432" y="2514600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auto-redacted (PDPL). Powers debugging &amp; failure diagnosis.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49440" y="3291840"/>
            <a:ext cx="4617720" cy="1261872"/>
          </a:xfrm>
          <a:prstGeom prst="roundRect">
            <a:avLst>
              <a:gd name="adj" fmla="val 8696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05472" y="3547872"/>
            <a:ext cx="676656" cy="676656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169" y="3730569"/>
            <a:ext cx="311262" cy="3112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28432" y="3529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sentiment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028432" y="3931920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labelled (frustrated → adapt); stored in the interaction log.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949440" y="4709160"/>
            <a:ext cx="4617720" cy="1261872"/>
          </a:xfrm>
          <a:prstGeom prst="roundRect">
            <a:avLst>
              <a:gd name="adj" fmla="val 8696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05472" y="4965192"/>
            <a:ext cx="676656" cy="676656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169" y="5147889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28432" y="494690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028432" y="5349240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event → 'couldn't find X, here's what's on'. Times out instead of hanging.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MEMORY, RAG,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grounded, extensible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7627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09" y="2358969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1579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Interest-gathering discovery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19072" y="256032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you're into and filters — it doesn't dump the whole catalog.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76272"/>
            <a:ext cx="676656" cy="676656"/>
          </a:xfrm>
          <a:prstGeom prst="ellipse">
            <a:avLst/>
          </a:prstGeom>
          <a:solidFill>
            <a:srgbClr val="B818C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369" y="2358969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42632" y="21579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42632" y="256032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past bookings + preferences across sessions, keyed by email.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27939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09" y="4462089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19072" y="42611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venue / FAQ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19072" y="46634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answers (parking, gates, accessibility, policies) in a small retriever.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279392"/>
            <a:ext cx="676656" cy="676656"/>
          </a:xfrm>
          <a:prstGeom prst="ellipse">
            <a:avLst/>
          </a:prstGeom>
          <a:solidFill>
            <a:srgbClr val="B818C8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369" y="4462089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42632" y="42611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ready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42632" y="466344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LangGraph-style adapter + recommender — MVP never regresses.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discipline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76272"/>
            <a:ext cx="676656" cy="676656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09" y="2358969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9072" y="21579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19072" y="2560320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· SQLAlchemy 2 · Alembic · SQLite / Postgres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22783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09" y="3410529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19072" y="32095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19072" y="3611880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Tailwind storefront · no-Node static site · CLI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279392"/>
            <a:ext cx="676656" cy="676656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09" y="4462089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19072" y="42611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19072" y="4663440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(active) · Anthropic · OpenAI · nano-gpt — one switch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5330952"/>
            <a:ext cx="676656" cy="676656"/>
          </a:xfrm>
          <a:prstGeom prst="ellipse">
            <a:avLst/>
          </a:prstGeom>
          <a:solidFill>
            <a:srgbClr val="7B2FF7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9" y="5513649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19072" y="53126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19072" y="5715000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spec-kit + an 8-principle Constitution · test-first money/holds · 148 tests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743200"/>
            <a:ext cx="6766560" cy="6766560"/>
          </a:xfrm>
          <a:prstGeom prst="ellipse">
            <a:avLst/>
          </a:prstGeom>
          <a:solidFill>
            <a:srgbClr val="7B2FF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011680"/>
            <a:ext cx="6400800" cy="6400800"/>
          </a:xfrm>
          <a:prstGeom prst="ellipse">
            <a:avLst/>
          </a:prstGeom>
          <a:solidFill>
            <a:srgbClr val="E6007E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868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“I want a ticket”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QR ticket — safely.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7947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+ deterministic MVP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payment gate + guardrails (tested)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set, LLM-judge, observability, RAG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money · atomic holds · 148 tests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3200400"/>
            <a:ext cx="5029200" cy="2468880"/>
          </a:xfrm>
          <a:prstGeom prst="roundRect">
            <a:avLst>
              <a:gd name="adj" fmla="val 4444"/>
            </a:avLst>
          </a:prstGeom>
          <a:solidFill>
            <a:srgbClr val="14141C"/>
          </a:solidFill>
          <a:ln w="12700">
            <a:solidFill>
              <a:srgbClr val="2A2A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1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37947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tool-agent to default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strategy switching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Moyasar webhook + signed tickets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9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multi-agent orchestration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   ·   github.com/nawaf110005/Booking-agent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Booking Agent — Agentic AI Capstone</dc:title>
  <dc:subject>PptxGenJS Presentation</dc:subject>
  <dc:creator>Nawaf Almufarej</dc:creator>
  <cp:lastModifiedBy>Nawaf Almufarej</cp:lastModifiedBy>
  <cp:revision>1</cp:revision>
  <dcterms:created xsi:type="dcterms:W3CDTF">2026-06-18T20:52:27Z</dcterms:created>
  <dcterms:modified xsi:type="dcterms:W3CDTF">2026-06-18T20:52:27Z</dcterms:modified>
</cp:coreProperties>
</file>